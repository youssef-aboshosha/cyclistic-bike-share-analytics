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Oranienbaum" panose="020F0502020204030204" pitchFamily="2" charset="0"/>
      <p:regular r:id="rId17"/>
    </p:embeddedFont>
    <p:embeddedFont>
      <p:font typeface="Quattrocento Sans" panose="020F0502020204030204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EE-4DF9-A620-4E20ECAC1BAE}"/>
              </c:ext>
            </c:extLst>
          </c:dPt>
          <c:dPt>
            <c:idx val="1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EE-4DF9-A620-4E20ECAC1BA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EE-4DF9-A620-4E20ECAC1BA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EE-4DF9-A620-4E20ECAC1BA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Annual Members</c:v>
                </c:pt>
                <c:pt idx="1">
                  <c:v>Casual Riders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64.7</c:v>
                </c:pt>
                <c:pt idx="1">
                  <c:v>35.299999999999997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EE-4DF9-A620-4E20ECAC1B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0-5 min</c:v>
                </c:pt>
                <c:pt idx="1">
                  <c:v>5-10 min</c:v>
                </c:pt>
                <c:pt idx="2">
                  <c:v>10-15 min</c:v>
                </c:pt>
                <c:pt idx="3">
                  <c:v>15-20 min</c:v>
                </c:pt>
                <c:pt idx="4">
                  <c:v>20-30 min</c:v>
                </c:pt>
                <c:pt idx="5">
                  <c:v>30-45 min</c:v>
                </c:pt>
                <c:pt idx="6">
                  <c:v>45+ min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22</c:v>
                </c:pt>
                <c:pt idx="2">
                  <c:v>16</c:v>
                </c:pt>
                <c:pt idx="3">
                  <c:v>12</c:v>
                </c:pt>
                <c:pt idx="4">
                  <c:v>14</c:v>
                </c:pt>
                <c:pt idx="5">
                  <c:v>10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2F-4C5B-9346-4BE60ABABC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0-5 min</c:v>
                </c:pt>
                <c:pt idx="1">
                  <c:v>5-10 min</c:v>
                </c:pt>
                <c:pt idx="2">
                  <c:v>10-15 min</c:v>
                </c:pt>
                <c:pt idx="3">
                  <c:v>15-20 min</c:v>
                </c:pt>
                <c:pt idx="4">
                  <c:v>20-30 min</c:v>
                </c:pt>
                <c:pt idx="5">
                  <c:v>30-45 min</c:v>
                </c:pt>
                <c:pt idx="6">
                  <c:v>45+ min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32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2F-4C5B-9346-4BE60ABAB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280</c:v>
                </c:pt>
                <c:pt idx="1">
                  <c:v>265</c:v>
                </c:pt>
                <c:pt idx="2">
                  <c:v>270</c:v>
                </c:pt>
                <c:pt idx="3">
                  <c:v>285</c:v>
                </c:pt>
                <c:pt idx="4">
                  <c:v>320</c:v>
                </c:pt>
                <c:pt idx="5">
                  <c:v>420</c:v>
                </c:pt>
                <c:pt idx="6">
                  <c:v>395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B2-48B5-94C1-AF09A4AA2A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580</c:v>
                </c:pt>
                <c:pt idx="1">
                  <c:v>610</c:v>
                </c:pt>
                <c:pt idx="2">
                  <c:v>625</c:v>
                </c:pt>
                <c:pt idx="3">
                  <c:v>605</c:v>
                </c:pt>
                <c:pt idx="4">
                  <c:v>540</c:v>
                </c:pt>
                <c:pt idx="5">
                  <c:v>310</c:v>
                </c:pt>
                <c:pt idx="6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DB2-48B5-94C1-AF09A4AA2A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25</c:v>
                </c:pt>
                <c:pt idx="1">
                  <c:v>15</c:v>
                </c:pt>
                <c:pt idx="2">
                  <c:v>8</c:v>
                </c:pt>
                <c:pt idx="3">
                  <c:v>5</c:v>
                </c:pt>
                <c:pt idx="4">
                  <c:v>4</c:v>
                </c:pt>
                <c:pt idx="5">
                  <c:v>8</c:v>
                </c:pt>
                <c:pt idx="6">
                  <c:v>18</c:v>
                </c:pt>
                <c:pt idx="7">
                  <c:v>35</c:v>
                </c:pt>
                <c:pt idx="8">
                  <c:v>55</c:v>
                </c:pt>
                <c:pt idx="9">
                  <c:v>70</c:v>
                </c:pt>
                <c:pt idx="10">
                  <c:v>85</c:v>
                </c:pt>
                <c:pt idx="11">
                  <c:v>95</c:v>
                </c:pt>
                <c:pt idx="12">
                  <c:v>105</c:v>
                </c:pt>
                <c:pt idx="13">
                  <c:v>100</c:v>
                </c:pt>
                <c:pt idx="14">
                  <c:v>90</c:v>
                </c:pt>
                <c:pt idx="15">
                  <c:v>85</c:v>
                </c:pt>
                <c:pt idx="16">
                  <c:v>95</c:v>
                </c:pt>
                <c:pt idx="17">
                  <c:v>110</c:v>
                </c:pt>
                <c:pt idx="18">
                  <c:v>120</c:v>
                </c:pt>
                <c:pt idx="19">
                  <c:v>105</c:v>
                </c:pt>
                <c:pt idx="20">
                  <c:v>80</c:v>
                </c:pt>
                <c:pt idx="21">
                  <c:v>60</c:v>
                </c:pt>
                <c:pt idx="22">
                  <c:v>45</c:v>
                </c:pt>
                <c:pt idx="23">
                  <c:v>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4D-4683-BBC7-989507AEBE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Members</c:v>
                </c:pt>
              </c:strCache>
            </c:strRef>
          </c:tx>
          <c:spPr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15</c:v>
                </c:pt>
                <c:pt idx="1">
                  <c:v>8</c:v>
                </c:pt>
                <c:pt idx="2">
                  <c:v>5</c:v>
                </c:pt>
                <c:pt idx="3">
                  <c:v>4</c:v>
                </c:pt>
                <c:pt idx="4">
                  <c:v>6</c:v>
                </c:pt>
                <c:pt idx="5">
                  <c:v>25</c:v>
                </c:pt>
                <c:pt idx="6">
                  <c:v>85</c:v>
                </c:pt>
                <c:pt idx="7">
                  <c:v>220</c:v>
                </c:pt>
                <c:pt idx="8">
                  <c:v>280</c:v>
                </c:pt>
                <c:pt idx="9">
                  <c:v>195</c:v>
                </c:pt>
                <c:pt idx="10">
                  <c:v>120</c:v>
                </c:pt>
                <c:pt idx="11">
                  <c:v>110</c:v>
                </c:pt>
                <c:pt idx="12">
                  <c:v>130</c:v>
                </c:pt>
                <c:pt idx="13">
                  <c:v>125</c:v>
                </c:pt>
                <c:pt idx="14">
                  <c:v>115</c:v>
                </c:pt>
                <c:pt idx="15">
                  <c:v>140</c:v>
                </c:pt>
                <c:pt idx="16">
                  <c:v>210</c:v>
                </c:pt>
                <c:pt idx="17">
                  <c:v>265</c:v>
                </c:pt>
                <c:pt idx="18">
                  <c:v>195</c:v>
                </c:pt>
                <c:pt idx="19">
                  <c:v>130</c:v>
                </c:pt>
                <c:pt idx="20">
                  <c:v>85</c:v>
                </c:pt>
                <c:pt idx="21">
                  <c:v>55</c:v>
                </c:pt>
                <c:pt idx="22">
                  <c:v>35</c:v>
                </c:pt>
                <c:pt idx="23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4D-4683-BBC7-989507AEBE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ln w="25400" cap="flat">
              <a:solidFill>
                <a:srgbClr val="E07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07A5F"/>
              </a:solidFill>
              <a:ln w="9525" cap="flat">
                <a:solidFill>
                  <a:srgbClr val="E07A5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</c:v>
                </c:pt>
                <c:pt idx="1">
                  <c:v>28</c:v>
                </c:pt>
                <c:pt idx="2">
                  <c:v>65</c:v>
                </c:pt>
                <c:pt idx="3">
                  <c:v>120</c:v>
                </c:pt>
                <c:pt idx="4">
                  <c:v>210</c:v>
                </c:pt>
                <c:pt idx="5">
                  <c:v>320</c:v>
                </c:pt>
                <c:pt idx="6">
                  <c:v>350</c:v>
                </c:pt>
                <c:pt idx="7">
                  <c:v>340</c:v>
                </c:pt>
                <c:pt idx="8">
                  <c:v>260</c:v>
                </c:pt>
                <c:pt idx="9">
                  <c:v>165</c:v>
                </c:pt>
                <c:pt idx="10">
                  <c:v>75</c:v>
                </c:pt>
                <c:pt idx="11">
                  <c:v>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748-4E74-B730-4556A4DA7D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Members</c:v>
                </c:pt>
              </c:strCache>
            </c:strRef>
          </c:tx>
          <c:spPr>
            <a:ln w="25400" cap="flat">
              <a:solidFill>
                <a:srgbClr val="2D6A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6A4F"/>
              </a:solidFill>
              <a:ln w="9525" cap="flat">
                <a:solidFill>
                  <a:srgbClr val="2D6A4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285</c:v>
                </c:pt>
                <c:pt idx="1">
                  <c:v>260</c:v>
                </c:pt>
                <c:pt idx="2">
                  <c:v>340</c:v>
                </c:pt>
                <c:pt idx="3">
                  <c:v>390</c:v>
                </c:pt>
                <c:pt idx="4">
                  <c:v>430</c:v>
                </c:pt>
                <c:pt idx="5">
                  <c:v>455</c:v>
                </c:pt>
                <c:pt idx="6">
                  <c:v>440</c:v>
                </c:pt>
                <c:pt idx="7">
                  <c:v>435</c:v>
                </c:pt>
                <c:pt idx="8">
                  <c:v>420</c:v>
                </c:pt>
                <c:pt idx="9">
                  <c:v>395</c:v>
                </c:pt>
                <c:pt idx="10">
                  <c:v>340</c:v>
                </c:pt>
                <c:pt idx="11">
                  <c:v>295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748-4E74-B730-4556A4DA7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Rides (thousands)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One-Way Trips</c:v>
                </c:pt>
                <c:pt idx="1">
                  <c:v>Round Trips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F3-4B60-A4EE-BD6C881A79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One-Way Trips</c:v>
                </c:pt>
                <c:pt idx="1">
                  <c:v>Round Trips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90.3</c:v>
                </c:pt>
                <c:pt idx="1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F3-4B60-A4EE-BD6C881A79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 of Rides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67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xk2lb7fz76bu/mnt/agents/output/cyclistic/images/6_A_cinematic_shot_of_a_cyclist_riding.png"/>
          <p:cNvPicPr>
            <a:picLocks noChangeAspect="1"/>
          </p:cNvPicPr>
          <p:nvPr/>
        </p:nvPicPr>
        <p:blipFill>
          <a:blip r:embed="rId3"/>
          <a:srcRect t="10257" b="1025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93B">
                  <a:alpha val="94000"/>
                </a:srgbClr>
              </a:gs>
              <a:gs pos="50000">
                <a:srgbClr val="1E293B">
                  <a:alpha val="75000"/>
                </a:srgbClr>
              </a:gs>
              <a:gs pos="100000">
                <a:srgbClr val="1E2933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016000" y="3048000"/>
            <a:ext cx="1016000" cy="508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16000" y="3302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Cyclistic Bike-Share Analysis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0800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 Annual Members and Casual Riders Use Cyclistic Bikes Differently?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6350000"/>
            <a:ext cx="635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16000" y="6604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Data Analytics Case Study | Behavioral &amp; Marketing Analytics Project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Tools: Python | Pandas | Matplotlib | Seaborn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800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FFFFFF">
                    <a:alpha val="43922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YOUSEF ABOSHOSHA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Cyclistic is a Chicago bike-share program with 5,800+ bicycles and 600+ docking stations. Annual members are significantly more profitable than casual riders.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4572000" cy="3048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95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203200"/>
                </a:moveTo>
                <a:cubicBezTo>
                  <a:pt x="355600" y="119088"/>
                  <a:pt x="287312" y="50800"/>
                  <a:pt x="203200" y="50800"/>
                </a:cubicBezTo>
                <a:cubicBezTo>
                  <a:pt x="119088" y="50800"/>
                  <a:pt x="50800" y="119088"/>
                  <a:pt x="50800" y="203200"/>
                </a:cubicBezTo>
                <a:cubicBezTo>
                  <a:pt x="50800" y="287312"/>
                  <a:pt x="119088" y="355600"/>
                  <a:pt x="203200" y="355600"/>
                </a:cubicBezTo>
                <a:cubicBezTo>
                  <a:pt x="287312" y="355600"/>
                  <a:pt x="355600" y="287312"/>
                  <a:pt x="355600" y="203200"/>
                </a:cubicBezTo>
                <a:close/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03200" y="266700"/>
                </a:moveTo>
                <a:cubicBezTo>
                  <a:pt x="238247" y="266700"/>
                  <a:pt x="266700" y="238247"/>
                  <a:pt x="266700" y="203200"/>
                </a:cubicBezTo>
                <a:cubicBezTo>
                  <a:pt x="266700" y="168153"/>
                  <a:pt x="238247" y="139700"/>
                  <a:pt x="203200" y="139700"/>
                </a:cubicBezTo>
                <a:cubicBezTo>
                  <a:pt x="168153" y="139700"/>
                  <a:pt x="139700" y="168153"/>
                  <a:pt x="139700" y="203200"/>
                </a:cubicBezTo>
                <a:cubicBezTo>
                  <a:pt x="139700" y="238247"/>
                  <a:pt x="168153" y="266700"/>
                  <a:pt x="203200" y="266700"/>
                </a:cubicBezTo>
                <a:close/>
                <a:moveTo>
                  <a:pt x="203200" y="88900"/>
                </a:moveTo>
                <a:cubicBezTo>
                  <a:pt x="266284" y="88900"/>
                  <a:pt x="317500" y="140116"/>
                  <a:pt x="317500" y="203200"/>
                </a:cubicBezTo>
                <a:cubicBezTo>
                  <a:pt x="317500" y="266284"/>
                  <a:pt x="266284" y="317500"/>
                  <a:pt x="203200" y="317500"/>
                </a:cubicBezTo>
                <a:cubicBezTo>
                  <a:pt x="140116" y="317500"/>
                  <a:pt x="88900" y="266284"/>
                  <a:pt x="88900" y="203200"/>
                </a:cubicBezTo>
                <a:cubicBezTo>
                  <a:pt x="88900" y="140116"/>
                  <a:pt x="140116" y="88900"/>
                  <a:pt x="203200" y="88900"/>
                </a:cubicBezTo>
                <a:close/>
                <a:moveTo>
                  <a:pt x="177800" y="203200"/>
                </a:moveTo>
                <a:cubicBezTo>
                  <a:pt x="177800" y="189181"/>
                  <a:pt x="189181" y="177800"/>
                  <a:pt x="203200" y="177800"/>
                </a:cubicBezTo>
                <a:cubicBezTo>
                  <a:pt x="217219" y="177800"/>
                  <a:pt x="228600" y="189181"/>
                  <a:pt x="228600" y="203200"/>
                </a:cubicBezTo>
                <a:cubicBezTo>
                  <a:pt x="228600" y="217219"/>
                  <a:pt x="217219" y="228600"/>
                  <a:pt x="203200" y="228600"/>
                </a:cubicBezTo>
                <a:cubicBezTo>
                  <a:pt x="189181" y="228600"/>
                  <a:pt x="177800" y="217219"/>
                  <a:pt x="177800" y="203200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9500" y="342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Business Question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do annual members and casual riders use Cyclistic bikes differently?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42000" y="2540000"/>
            <a:ext cx="4572000" cy="3048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595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59500" y="342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Goal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 behavioral patterns that can help convert casual riders into annual members.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22000" y="2540000"/>
            <a:ext cx="4572000" cy="3048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2395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39500" y="34290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Objective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39500" y="3937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 marketing strategies aimed at converting casual riders into annual members.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096000"/>
            <a:ext cx="14732000" cy="1270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00150" y="6477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41500" y="62865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Casual riders are already aware of Cyclistic and have chosen it for their mobility needs — making them prime candidates for membership conversion.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3429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1778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5.5M+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160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Total Rides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08500" y="1651000"/>
            <a:ext cx="3429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62500" y="1778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625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Months of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5000" y="1651000"/>
            <a:ext cx="3429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9000" y="1778000"/>
            <a:ext cx="292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09000" y="24765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Columns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001500" y="1651000"/>
            <a:ext cx="34925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55500" y="17780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5.8K+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2255500" y="2476500"/>
            <a:ext cx="2984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Bicycles in Fleet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62000" y="3429000"/>
          <a:ext cx="533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604000" y="3556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604000" y="4127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Ride timestamps (start/end)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Ride duration (minutes)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Bike type (classic/electric)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Station information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Rider category (member/casual)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Geographic coordinates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049000" y="35560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Engineered Features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049000" y="4127500"/>
            <a:ext cx="4445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ride_length_min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day_of_week / is_weekend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season / month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hour / time_period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is_round_trip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62000" y="8255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Motivate International Inc. public bike-share data (12-month period)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Cleaning &amp; 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698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Processing Steps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6985000" cy="127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2349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349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Removed invalid ride durations (negative or zero values)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2921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921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Converted datetime columns to proper timestamp format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3492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3492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Handled missing station name and ID values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0640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24000" y="40640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Removed duplicate ride records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4635500"/>
            <a:ext cx="6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4635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Standardized column names across all 12 monthly files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82000" y="1651000"/>
            <a:ext cx="711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Features Engineered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2159000"/>
            <a:ext cx="7112000" cy="127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349500"/>
          <a:ext cx="7112000" cy="3302000"/>
        </p:xfrm>
        <a:graphic>
          <a:graphicData uri="http://schemas.openxmlformats.org/drawingml/2006/table">
            <a:tbl>
              <a:tblPr/>
              <a:tblGrid>
                <a:gridCol w="270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ride_length_min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Ride duration in minutes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day_of_week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Day name (Monday-Sunday)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season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/ Summer / Fall / Winter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time_period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Morning / Afternoon / Evening / Night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is_weekend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 weekend flag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2000" y="6096000"/>
            <a:ext cx="14732000" cy="1016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114425" y="635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41500" y="6223000"/>
            <a:ext cx="1320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 Stack: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| Pandas (data manipulation) | Matplotlib &amp; Seaborn (visualization) | Jupyter Notebook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Casual Riders Take Significantly Longer Trips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177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RIDERS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6000" y="2159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23.35 min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2895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Average ride duration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78500" y="1651000"/>
            <a:ext cx="4699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2500" y="177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ANNUAL MEMBERS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2500" y="2159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12.69 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032500" y="2895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Average ride duration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795000" y="1651000"/>
            <a:ext cx="4699000" cy="1651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9000" y="1778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49000" y="2159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+84% longer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28956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Casual vs. Member rides</a:t>
            </a:r>
            <a:endParaRPr lang="en-US" sz="16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762000" y="3683000"/>
          <a:ext cx="889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10033000" y="3683000"/>
            <a:ext cx="5461000" cy="4064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350500" y="3937000"/>
            <a:ext cx="482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Interpretation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350500" y="4508500"/>
            <a:ext cx="4826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bikes for transportation — short, purposeful trips with a clear destination.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riders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bikes recreationally — longer, leisure-focused trips exploring the city.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84% duration gap is the strongest behavioral differentiator between the two groups.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Members Dominate Weekdays; Casual Riders Peak on Weekends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62000" y="1651000"/>
          <a:ext cx="8636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9906000" y="1651000"/>
            <a:ext cx="558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160000" y="184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160000" y="2222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76.9%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38000" y="2222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Weekday rides — commuting behavior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160000" y="2984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64748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23.1%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938000" y="2984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Weekend rides — leisure use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906000" y="4064000"/>
            <a:ext cx="558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60000" y="4254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RIDERS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160000" y="4635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63.0%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938000" y="4635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Weekday rides — mixed use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160000" y="5397500"/>
            <a:ext cx="165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dirty="0">
                <a:solidFill>
                  <a:srgbClr val="64748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37.0%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938000" y="5397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Weekend rides — recreational focus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2000" y="6858000"/>
            <a:ext cx="14732000" cy="508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79500" y="6858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weekday/weekend split is a strong indicator of commuting vs. recreational usage — members ride to work; casual riders ride for fun.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Members Show Clear Rush-Hour Riding Patterns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62000" y="1651000"/>
          <a:ext cx="14732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858000"/>
            <a:ext cx="7112000" cy="762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93775" y="704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23765" y="-7015"/>
                </a:moveTo>
                <a:cubicBezTo>
                  <a:pt x="128905" y="-9168"/>
                  <a:pt x="134739" y="-8543"/>
                  <a:pt x="139392" y="-5487"/>
                </a:cubicBezTo>
                <a:lnTo>
                  <a:pt x="200372" y="34935"/>
                </a:lnTo>
                <a:lnTo>
                  <a:pt x="261352" y="-5487"/>
                </a:lnTo>
                <a:cubicBezTo>
                  <a:pt x="266005" y="-8543"/>
                  <a:pt x="271840" y="-9098"/>
                  <a:pt x="276979" y="-7015"/>
                </a:cubicBezTo>
                <a:cubicBezTo>
                  <a:pt x="282119" y="-4931"/>
                  <a:pt x="285730" y="-347"/>
                  <a:pt x="286841" y="5070"/>
                </a:cubicBezTo>
                <a:lnTo>
                  <a:pt x="301357" y="76746"/>
                </a:lnTo>
                <a:lnTo>
                  <a:pt x="373033" y="91261"/>
                </a:lnTo>
                <a:cubicBezTo>
                  <a:pt x="378450" y="92373"/>
                  <a:pt x="383034" y="96123"/>
                  <a:pt x="385118" y="101193"/>
                </a:cubicBezTo>
                <a:cubicBezTo>
                  <a:pt x="387201" y="106263"/>
                  <a:pt x="386646" y="112167"/>
                  <a:pt x="383590" y="116820"/>
                </a:cubicBezTo>
                <a:lnTo>
                  <a:pt x="343168" y="177800"/>
                </a:lnTo>
                <a:lnTo>
                  <a:pt x="383590" y="238780"/>
                </a:lnTo>
                <a:cubicBezTo>
                  <a:pt x="386646" y="243433"/>
                  <a:pt x="387201" y="249267"/>
                  <a:pt x="385118" y="254407"/>
                </a:cubicBezTo>
                <a:cubicBezTo>
                  <a:pt x="383034" y="259546"/>
                  <a:pt x="378450" y="263297"/>
                  <a:pt x="373033" y="264339"/>
                </a:cubicBezTo>
                <a:lnTo>
                  <a:pt x="301288" y="278785"/>
                </a:lnTo>
                <a:lnTo>
                  <a:pt x="286841" y="350530"/>
                </a:lnTo>
                <a:cubicBezTo>
                  <a:pt x="285730" y="355947"/>
                  <a:pt x="281980" y="360531"/>
                  <a:pt x="276910" y="362615"/>
                </a:cubicBezTo>
                <a:cubicBezTo>
                  <a:pt x="271840" y="364698"/>
                  <a:pt x="265936" y="364143"/>
                  <a:pt x="261283" y="361087"/>
                </a:cubicBezTo>
                <a:lnTo>
                  <a:pt x="200303" y="320665"/>
                </a:lnTo>
                <a:lnTo>
                  <a:pt x="139323" y="361087"/>
                </a:lnTo>
                <a:cubicBezTo>
                  <a:pt x="134670" y="364143"/>
                  <a:pt x="128836" y="364698"/>
                  <a:pt x="123696" y="362615"/>
                </a:cubicBezTo>
                <a:cubicBezTo>
                  <a:pt x="118556" y="360531"/>
                  <a:pt x="114806" y="355947"/>
                  <a:pt x="113764" y="350530"/>
                </a:cubicBezTo>
                <a:lnTo>
                  <a:pt x="99318" y="278785"/>
                </a:lnTo>
                <a:lnTo>
                  <a:pt x="27573" y="264269"/>
                </a:lnTo>
                <a:cubicBezTo>
                  <a:pt x="22156" y="263158"/>
                  <a:pt x="17572" y="259407"/>
                  <a:pt x="15488" y="254337"/>
                </a:cubicBezTo>
                <a:cubicBezTo>
                  <a:pt x="13404" y="249267"/>
                  <a:pt x="13960" y="243364"/>
                  <a:pt x="17016" y="238710"/>
                </a:cubicBezTo>
                <a:lnTo>
                  <a:pt x="57438" y="177800"/>
                </a:lnTo>
                <a:lnTo>
                  <a:pt x="17016" y="116820"/>
                </a:lnTo>
                <a:cubicBezTo>
                  <a:pt x="13960" y="112167"/>
                  <a:pt x="13404" y="106333"/>
                  <a:pt x="15488" y="101193"/>
                </a:cubicBezTo>
                <a:cubicBezTo>
                  <a:pt x="17572" y="96054"/>
                  <a:pt x="22156" y="92303"/>
                  <a:pt x="27573" y="91261"/>
                </a:cubicBezTo>
                <a:lnTo>
                  <a:pt x="99318" y="76815"/>
                </a:lnTo>
                <a:lnTo>
                  <a:pt x="113834" y="5070"/>
                </a:lnTo>
                <a:cubicBezTo>
                  <a:pt x="114945" y="-347"/>
                  <a:pt x="118695" y="-4931"/>
                  <a:pt x="123765" y="-7015"/>
                </a:cubicBezTo>
                <a:close/>
                <a:moveTo>
                  <a:pt x="144185" y="177800"/>
                </a:moveTo>
                <a:cubicBezTo>
                  <a:pt x="144185" y="157850"/>
                  <a:pt x="154828" y="139416"/>
                  <a:pt x="172105" y="129441"/>
                </a:cubicBezTo>
                <a:cubicBezTo>
                  <a:pt x="189382" y="119466"/>
                  <a:pt x="210668" y="119466"/>
                  <a:pt x="227945" y="129441"/>
                </a:cubicBezTo>
                <a:cubicBezTo>
                  <a:pt x="245222" y="139416"/>
                  <a:pt x="255865" y="157850"/>
                  <a:pt x="255865" y="177800"/>
                </a:cubicBezTo>
                <a:cubicBezTo>
                  <a:pt x="255865" y="208619"/>
                  <a:pt x="230844" y="233640"/>
                  <a:pt x="200025" y="233640"/>
                </a:cubicBezTo>
                <a:cubicBezTo>
                  <a:pt x="169206" y="233640"/>
                  <a:pt x="144185" y="208619"/>
                  <a:pt x="144185" y="177800"/>
                </a:cubicBezTo>
                <a:close/>
                <a:moveTo>
                  <a:pt x="289203" y="177800"/>
                </a:moveTo>
                <a:cubicBezTo>
                  <a:pt x="289203" y="128581"/>
                  <a:pt x="249244" y="88622"/>
                  <a:pt x="200025" y="88622"/>
                </a:cubicBezTo>
                <a:cubicBezTo>
                  <a:pt x="150806" y="88622"/>
                  <a:pt x="110847" y="128581"/>
                  <a:pt x="110847" y="177800"/>
                </a:cubicBezTo>
                <a:cubicBezTo>
                  <a:pt x="110847" y="209660"/>
                  <a:pt x="127844" y="239100"/>
                  <a:pt x="155436" y="255030"/>
                </a:cubicBezTo>
                <a:cubicBezTo>
                  <a:pt x="183028" y="270960"/>
                  <a:pt x="217022" y="270960"/>
                  <a:pt x="244614" y="255030"/>
                </a:cubicBezTo>
                <a:cubicBezTo>
                  <a:pt x="272206" y="239100"/>
                  <a:pt x="289203" y="209660"/>
                  <a:pt x="289203" y="177800"/>
                </a:cubicBez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24000" y="685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Peak:</a:t>
            </a: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7-9 AM and 4-6 PM — classic commute hours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382000" y="6858000"/>
            <a:ext cx="7112000" cy="762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13775" y="704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15039" y="-10279"/>
                </a:moveTo>
                <a:cubicBezTo>
                  <a:pt x="318443" y="-8890"/>
                  <a:pt x="320943" y="-5834"/>
                  <a:pt x="321637" y="-2223"/>
                </a:cubicBezTo>
                <a:lnTo>
                  <a:pt x="333375" y="55563"/>
                </a:lnTo>
                <a:lnTo>
                  <a:pt x="391160" y="67231"/>
                </a:lnTo>
                <a:cubicBezTo>
                  <a:pt x="394772" y="67995"/>
                  <a:pt x="397758" y="70425"/>
                  <a:pt x="399217" y="73829"/>
                </a:cubicBezTo>
                <a:cubicBezTo>
                  <a:pt x="400675" y="77232"/>
                  <a:pt x="400258" y="81121"/>
                  <a:pt x="398244" y="84177"/>
                </a:cubicBezTo>
                <a:lnTo>
                  <a:pt x="365671" y="133281"/>
                </a:lnTo>
                <a:lnTo>
                  <a:pt x="398244" y="182384"/>
                </a:lnTo>
                <a:cubicBezTo>
                  <a:pt x="400258" y="185440"/>
                  <a:pt x="400675" y="189329"/>
                  <a:pt x="399217" y="192732"/>
                </a:cubicBezTo>
                <a:cubicBezTo>
                  <a:pt x="397758" y="196136"/>
                  <a:pt x="394772" y="198636"/>
                  <a:pt x="391160" y="199330"/>
                </a:cubicBezTo>
                <a:lnTo>
                  <a:pt x="347960" y="208151"/>
                </a:lnTo>
                <a:cubicBezTo>
                  <a:pt x="339695" y="202109"/>
                  <a:pt x="330527" y="197316"/>
                  <a:pt x="320596" y="193983"/>
                </a:cubicBezTo>
                <a:cubicBezTo>
                  <a:pt x="318859" y="185162"/>
                  <a:pt x="315873" y="176828"/>
                  <a:pt x="311775" y="169188"/>
                </a:cubicBezTo>
                <a:cubicBezTo>
                  <a:pt x="318373" y="158839"/>
                  <a:pt x="322263" y="146546"/>
                  <a:pt x="322263" y="133281"/>
                </a:cubicBezTo>
                <a:cubicBezTo>
                  <a:pt x="322263" y="96470"/>
                  <a:pt x="292398" y="66606"/>
                  <a:pt x="255588" y="66606"/>
                </a:cubicBezTo>
                <a:cubicBezTo>
                  <a:pt x="222319" y="66606"/>
                  <a:pt x="194747" y="90984"/>
                  <a:pt x="189746" y="122793"/>
                </a:cubicBezTo>
                <a:cubicBezTo>
                  <a:pt x="171341" y="108694"/>
                  <a:pt x="148421" y="100221"/>
                  <a:pt x="123488" y="99943"/>
                </a:cubicBezTo>
                <a:lnTo>
                  <a:pt x="113000" y="84177"/>
                </a:lnTo>
                <a:cubicBezTo>
                  <a:pt x="110986" y="81121"/>
                  <a:pt x="110569" y="77232"/>
                  <a:pt x="112028" y="73829"/>
                </a:cubicBezTo>
                <a:cubicBezTo>
                  <a:pt x="113486" y="70425"/>
                  <a:pt x="116473" y="67925"/>
                  <a:pt x="120084" y="67231"/>
                </a:cubicBezTo>
                <a:lnTo>
                  <a:pt x="177800" y="55563"/>
                </a:lnTo>
                <a:lnTo>
                  <a:pt x="189468" y="-2222"/>
                </a:lnTo>
                <a:cubicBezTo>
                  <a:pt x="190232" y="-5834"/>
                  <a:pt x="192663" y="-8821"/>
                  <a:pt x="196066" y="-10279"/>
                </a:cubicBezTo>
                <a:cubicBezTo>
                  <a:pt x="199469" y="-11738"/>
                  <a:pt x="203359" y="-11321"/>
                  <a:pt x="206415" y="-9307"/>
                </a:cubicBezTo>
                <a:lnTo>
                  <a:pt x="255587" y="23336"/>
                </a:lnTo>
                <a:lnTo>
                  <a:pt x="304691" y="-9237"/>
                </a:lnTo>
                <a:cubicBezTo>
                  <a:pt x="307747" y="-11251"/>
                  <a:pt x="311636" y="-11668"/>
                  <a:pt x="315039" y="-10210"/>
                </a:cubicBezTo>
                <a:close/>
                <a:moveTo>
                  <a:pt x="288925" y="133350"/>
                </a:moveTo>
                <a:cubicBezTo>
                  <a:pt x="288925" y="135989"/>
                  <a:pt x="288647" y="138559"/>
                  <a:pt x="288022" y="141059"/>
                </a:cubicBezTo>
                <a:cubicBezTo>
                  <a:pt x="272951" y="129252"/>
                  <a:pt x="253990" y="122238"/>
                  <a:pt x="233363" y="122238"/>
                </a:cubicBezTo>
                <a:cubicBezTo>
                  <a:pt x="230168" y="122238"/>
                  <a:pt x="227042" y="122376"/>
                  <a:pt x="223986" y="122724"/>
                </a:cubicBezTo>
                <a:cubicBezTo>
                  <a:pt x="228431" y="109528"/>
                  <a:pt x="240933" y="100013"/>
                  <a:pt x="255587" y="100013"/>
                </a:cubicBezTo>
                <a:cubicBezTo>
                  <a:pt x="273993" y="100013"/>
                  <a:pt x="288925" y="114945"/>
                  <a:pt x="288925" y="133350"/>
                </a:cubicBezTo>
                <a:close/>
                <a:moveTo>
                  <a:pt x="66675" y="355600"/>
                </a:moveTo>
                <a:cubicBezTo>
                  <a:pt x="29865" y="355600"/>
                  <a:pt x="0" y="325735"/>
                  <a:pt x="0" y="288925"/>
                </a:cubicBezTo>
                <a:cubicBezTo>
                  <a:pt x="0" y="259407"/>
                  <a:pt x="19169" y="234335"/>
                  <a:pt x="45770" y="225584"/>
                </a:cubicBezTo>
                <a:cubicBezTo>
                  <a:pt x="44867" y="220930"/>
                  <a:pt x="44450" y="216069"/>
                  <a:pt x="44450" y="211138"/>
                </a:cubicBezTo>
                <a:cubicBezTo>
                  <a:pt x="44450" y="168146"/>
                  <a:pt x="79246" y="133350"/>
                  <a:pt x="122238" y="133350"/>
                </a:cubicBezTo>
                <a:cubicBezTo>
                  <a:pt x="152172" y="133350"/>
                  <a:pt x="178147" y="150227"/>
                  <a:pt x="191135" y="175022"/>
                </a:cubicBezTo>
                <a:cubicBezTo>
                  <a:pt x="201345" y="163145"/>
                  <a:pt x="216485" y="155575"/>
                  <a:pt x="233363" y="155575"/>
                </a:cubicBezTo>
                <a:cubicBezTo>
                  <a:pt x="264061" y="155575"/>
                  <a:pt x="288925" y="180439"/>
                  <a:pt x="288925" y="211138"/>
                </a:cubicBezTo>
                <a:cubicBezTo>
                  <a:pt x="288925" y="214957"/>
                  <a:pt x="288508" y="218638"/>
                  <a:pt x="287814" y="222250"/>
                </a:cubicBezTo>
                <a:cubicBezTo>
                  <a:pt x="288161" y="222250"/>
                  <a:pt x="288578" y="222250"/>
                  <a:pt x="288925" y="222250"/>
                </a:cubicBez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66675" y="35560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0" y="685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Peak:</a:t>
            </a: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12-6 PM — midday leisure activity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62000" y="7874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Cyclistic bikes are integrated into members' daily transportation routine, while casual riders treat biking as a recreational activity.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Casual Riders Show Strong Seasonal Usage Patterns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62000" y="1651000"/>
          <a:ext cx="9525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10668000" y="1651000"/>
            <a:ext cx="4826000" cy="469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85500" y="1905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Seasonal Breakdown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85500" y="2476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85500" y="2794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913K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85500" y="3365500"/>
            <a:ext cx="419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Highest casual ridership — peak recreational season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85500" y="3873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85500" y="4191000"/>
            <a:ext cx="20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64748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91K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85500" y="4762500"/>
            <a:ext cx="4191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Lowest casual ridership — 10x decrease from summer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85500" y="5270500"/>
            <a:ext cx="4191000" cy="127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985500" y="54610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Members ride consistently year-round, resilient to weather changes.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62000" y="6731000"/>
            <a:ext cx="14732000" cy="889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79500" y="6731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Insight: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Casual usage is highly weather-dependent. Summer represents the highest opportunity window for membership conversion campaigns.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397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Casual Riders Take More Round Trips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62000" y="1651000"/>
          <a:ext cx="6985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55000" y="1651000"/>
            <a:ext cx="723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0" y="184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ROUND-TRIP RATE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0" y="22225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15.47%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572500" y="2857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riders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938000" y="2222500"/>
            <a:ext cx="317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9.75%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938000" y="2857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Annual members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55000" y="3810000"/>
            <a:ext cx="723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Top Casual Rider Stations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55000" y="4254500"/>
            <a:ext cx="7239000" cy="127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0" y="4445000"/>
          <a:ext cx="7239000" cy="2286000"/>
        </p:xfrm>
        <a:graphic>
          <a:graphicData uri="http://schemas.openxmlformats.org/drawingml/2006/table">
            <a:tbl>
              <a:tblPr/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8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Station Name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Rides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Navy Pier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32,221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DuSable Lake Shore Dr &amp; Monroe 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31,175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Michigan Ave &amp; Oak St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22,325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DuSable Lake Shore Dr &amp; North Blvd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19,319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62000" y="7112000"/>
            <a:ext cx="14732000" cy="889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79500" y="7112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Interpretation: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Round trips and tourist-area stations suggest casual riders use bikes for sightseeing, exploration, and recreational discovery — not point-to-point commuting.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Behavioral Profiles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175500" cy="546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175500" cy="762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5688" y="1841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71438"/>
                </a:moveTo>
                <a:cubicBezTo>
                  <a:pt x="0" y="45169"/>
                  <a:pt x="21357" y="23812"/>
                  <a:pt x="47625" y="23812"/>
                </a:cubicBezTo>
                <a:lnTo>
                  <a:pt x="381000" y="23812"/>
                </a:lnTo>
                <a:cubicBezTo>
                  <a:pt x="407268" y="23812"/>
                  <a:pt x="428625" y="45169"/>
                  <a:pt x="428625" y="71438"/>
                </a:cubicBezTo>
                <a:lnTo>
                  <a:pt x="0" y="71438"/>
                </a:lnTo>
                <a:close/>
                <a:moveTo>
                  <a:pt x="0" y="107156"/>
                </a:moveTo>
                <a:lnTo>
                  <a:pt x="428625" y="107156"/>
                </a:lnTo>
                <a:lnTo>
                  <a:pt x="428625" y="309563"/>
                </a:lnTo>
                <a:cubicBezTo>
                  <a:pt x="428625" y="335831"/>
                  <a:pt x="407268" y="357188"/>
                  <a:pt x="38100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107156"/>
                </a:lnTo>
                <a:close/>
                <a:moveTo>
                  <a:pt x="184026" y="309563"/>
                </a:moveTo>
                <a:cubicBezTo>
                  <a:pt x="199058" y="309563"/>
                  <a:pt x="210294" y="295126"/>
                  <a:pt x="200695" y="283518"/>
                </a:cubicBezTo>
                <a:cubicBezTo>
                  <a:pt x="189756" y="270346"/>
                  <a:pt x="173236" y="261938"/>
                  <a:pt x="154781" y="261938"/>
                </a:cubicBezTo>
                <a:lnTo>
                  <a:pt x="107156" y="261938"/>
                </a:lnTo>
                <a:cubicBezTo>
                  <a:pt x="88702" y="261938"/>
                  <a:pt x="72182" y="270346"/>
                  <a:pt x="61243" y="283518"/>
                </a:cubicBezTo>
                <a:cubicBezTo>
                  <a:pt x="51643" y="295126"/>
                  <a:pt x="62880" y="309563"/>
                  <a:pt x="77912" y="309563"/>
                </a:cubicBezTo>
                <a:lnTo>
                  <a:pt x="183952" y="309563"/>
                </a:lnTo>
                <a:close/>
                <a:moveTo>
                  <a:pt x="130969" y="232172"/>
                </a:moveTo>
                <a:cubicBezTo>
                  <a:pt x="153968" y="232172"/>
                  <a:pt x="172641" y="213499"/>
                  <a:pt x="172641" y="190500"/>
                </a:cubicBezTo>
                <a:cubicBezTo>
                  <a:pt x="172641" y="167501"/>
                  <a:pt x="153968" y="148828"/>
                  <a:pt x="130969" y="148828"/>
                </a:cubicBezTo>
                <a:cubicBezTo>
                  <a:pt x="107969" y="148828"/>
                  <a:pt x="89297" y="167501"/>
                  <a:pt x="89297" y="190500"/>
                </a:cubicBezTo>
                <a:cubicBezTo>
                  <a:pt x="89297" y="213499"/>
                  <a:pt x="107969" y="232172"/>
                  <a:pt x="130969" y="232172"/>
                </a:cubicBezTo>
                <a:close/>
                <a:moveTo>
                  <a:pt x="267891" y="154781"/>
                </a:moveTo>
                <a:cubicBezTo>
                  <a:pt x="257994" y="154781"/>
                  <a:pt x="250031" y="162744"/>
                  <a:pt x="250031" y="172641"/>
                </a:cubicBezTo>
                <a:cubicBezTo>
                  <a:pt x="250031" y="182538"/>
                  <a:pt x="257994" y="190500"/>
                  <a:pt x="267891" y="190500"/>
                </a:cubicBezTo>
                <a:lnTo>
                  <a:pt x="351234" y="190500"/>
                </a:lnTo>
                <a:cubicBezTo>
                  <a:pt x="361131" y="190500"/>
                  <a:pt x="369094" y="182538"/>
                  <a:pt x="369094" y="172641"/>
                </a:cubicBezTo>
                <a:cubicBezTo>
                  <a:pt x="369094" y="162744"/>
                  <a:pt x="361131" y="154781"/>
                  <a:pt x="351234" y="154781"/>
                </a:cubicBezTo>
                <a:lnTo>
                  <a:pt x="267891" y="154781"/>
                </a:lnTo>
                <a:close/>
                <a:moveTo>
                  <a:pt x="267891" y="226219"/>
                </a:moveTo>
                <a:cubicBezTo>
                  <a:pt x="257994" y="226219"/>
                  <a:pt x="250031" y="234181"/>
                  <a:pt x="250031" y="244078"/>
                </a:cubicBezTo>
                <a:cubicBezTo>
                  <a:pt x="250031" y="253975"/>
                  <a:pt x="257994" y="261938"/>
                  <a:pt x="267891" y="261938"/>
                </a:cubicBezTo>
                <a:lnTo>
                  <a:pt x="351234" y="261938"/>
                </a:lnTo>
                <a:cubicBezTo>
                  <a:pt x="361131" y="261938"/>
                  <a:pt x="369094" y="253975"/>
                  <a:pt x="369094" y="244078"/>
                </a:cubicBezTo>
                <a:cubicBezTo>
                  <a:pt x="369094" y="234181"/>
                  <a:pt x="361131" y="226219"/>
                  <a:pt x="351234" y="226219"/>
                </a:cubicBezTo>
                <a:lnTo>
                  <a:pt x="267891" y="22621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51000" y="1651000"/>
            <a:ext cx="596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Annual Members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6670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Weekday usage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(76.9%)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Rush-hour activity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(7-9 AM, 4-6 PM)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Shorter rides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(12.7 min average)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Commuting behavior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 year-round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usage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One-way trips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(90.3%)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2D6A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Business district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651000"/>
            <a:ext cx="7175500" cy="546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18500" y="1651000"/>
            <a:ext cx="7175500" cy="762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88375" y="18415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46831" y="32221"/>
                </a:moveTo>
                <a:cubicBezTo>
                  <a:pt x="250031" y="27012"/>
                  <a:pt x="255761" y="23812"/>
                  <a:pt x="261938" y="23812"/>
                </a:cubicBezTo>
                <a:lnTo>
                  <a:pt x="339328" y="23812"/>
                </a:lnTo>
                <a:cubicBezTo>
                  <a:pt x="349225" y="23812"/>
                  <a:pt x="357188" y="31775"/>
                  <a:pt x="357188" y="41672"/>
                </a:cubicBezTo>
                <a:cubicBezTo>
                  <a:pt x="357188" y="51569"/>
                  <a:pt x="349225" y="59531"/>
                  <a:pt x="339328" y="59531"/>
                </a:cubicBezTo>
                <a:lnTo>
                  <a:pt x="290513" y="59531"/>
                </a:lnTo>
                <a:lnTo>
                  <a:pt x="344239" y="169962"/>
                </a:lnTo>
                <a:cubicBezTo>
                  <a:pt x="352202" y="167804"/>
                  <a:pt x="360536" y="166688"/>
                  <a:pt x="369094" y="166688"/>
                </a:cubicBezTo>
                <a:cubicBezTo>
                  <a:pt x="421704" y="166688"/>
                  <a:pt x="464344" y="209327"/>
                  <a:pt x="464344" y="261938"/>
                </a:cubicBezTo>
                <a:cubicBezTo>
                  <a:pt x="464344" y="314548"/>
                  <a:pt x="421704" y="357188"/>
                  <a:pt x="369094" y="357188"/>
                </a:cubicBezTo>
                <a:cubicBezTo>
                  <a:pt x="316483" y="357188"/>
                  <a:pt x="273844" y="314548"/>
                  <a:pt x="273844" y="261938"/>
                </a:cubicBezTo>
                <a:cubicBezTo>
                  <a:pt x="273844" y="230684"/>
                  <a:pt x="288875" y="203002"/>
                  <a:pt x="312093" y="185589"/>
                </a:cubicBezTo>
                <a:lnTo>
                  <a:pt x="296912" y="154409"/>
                </a:lnTo>
                <a:lnTo>
                  <a:pt x="242218" y="263798"/>
                </a:lnTo>
                <a:cubicBezTo>
                  <a:pt x="240506" y="267370"/>
                  <a:pt x="237530" y="270346"/>
                  <a:pt x="233735" y="272132"/>
                </a:cubicBezTo>
                <a:cubicBezTo>
                  <a:pt x="233288" y="272355"/>
                  <a:pt x="232842" y="272504"/>
                  <a:pt x="232395" y="272653"/>
                </a:cubicBezTo>
                <a:cubicBezTo>
                  <a:pt x="230237" y="273472"/>
                  <a:pt x="228005" y="273844"/>
                  <a:pt x="225772" y="273769"/>
                </a:cubicBezTo>
                <a:lnTo>
                  <a:pt x="201662" y="273844"/>
                </a:lnTo>
                <a:cubicBezTo>
                  <a:pt x="195783" y="320799"/>
                  <a:pt x="155749" y="357188"/>
                  <a:pt x="107156" y="357188"/>
                </a:cubicBezTo>
                <a:cubicBezTo>
                  <a:pt x="54546" y="357188"/>
                  <a:pt x="11906" y="314548"/>
                  <a:pt x="11906" y="261938"/>
                </a:cubicBezTo>
                <a:cubicBezTo>
                  <a:pt x="11906" y="209327"/>
                  <a:pt x="54546" y="166688"/>
                  <a:pt x="107156" y="166688"/>
                </a:cubicBezTo>
                <a:cubicBezTo>
                  <a:pt x="115193" y="166688"/>
                  <a:pt x="122932" y="167655"/>
                  <a:pt x="130373" y="169515"/>
                </a:cubicBezTo>
                <a:lnTo>
                  <a:pt x="151581" y="127174"/>
                </a:lnTo>
                <a:lnTo>
                  <a:pt x="143024" y="107156"/>
                </a:lnTo>
                <a:lnTo>
                  <a:pt x="113109" y="107156"/>
                </a:lnTo>
                <a:cubicBezTo>
                  <a:pt x="103212" y="107156"/>
                  <a:pt x="95250" y="99194"/>
                  <a:pt x="95250" y="89297"/>
                </a:cubicBezTo>
                <a:cubicBezTo>
                  <a:pt x="95250" y="79400"/>
                  <a:pt x="103212" y="71438"/>
                  <a:pt x="113109" y="71438"/>
                </a:cubicBezTo>
                <a:lnTo>
                  <a:pt x="154781" y="71438"/>
                </a:lnTo>
                <a:cubicBezTo>
                  <a:pt x="161925" y="71438"/>
                  <a:pt x="168399" y="75679"/>
                  <a:pt x="171227" y="82228"/>
                </a:cubicBezTo>
                <a:lnTo>
                  <a:pt x="181868" y="107156"/>
                </a:lnTo>
                <a:lnTo>
                  <a:pt x="273918" y="107156"/>
                </a:lnTo>
                <a:lnTo>
                  <a:pt x="245864" y="49485"/>
                </a:lnTo>
                <a:cubicBezTo>
                  <a:pt x="243185" y="43979"/>
                  <a:pt x="243483" y="37430"/>
                  <a:pt x="246757" y="32221"/>
                </a:cubicBezTo>
                <a:close/>
                <a:moveTo>
                  <a:pt x="170036" y="170185"/>
                </a:moveTo>
                <a:lnTo>
                  <a:pt x="136103" y="238125"/>
                </a:lnTo>
                <a:lnTo>
                  <a:pt x="199206" y="238125"/>
                </a:lnTo>
                <a:lnTo>
                  <a:pt x="170111" y="170185"/>
                </a:lnTo>
                <a:close/>
                <a:moveTo>
                  <a:pt x="227484" y="213568"/>
                </a:moveTo>
                <a:lnTo>
                  <a:pt x="262830" y="142875"/>
                </a:lnTo>
                <a:lnTo>
                  <a:pt x="197197" y="142875"/>
                </a:lnTo>
                <a:lnTo>
                  <a:pt x="227484" y="213568"/>
                </a:lnTo>
                <a:close/>
                <a:moveTo>
                  <a:pt x="353020" y="269751"/>
                </a:moveTo>
                <a:lnTo>
                  <a:pt x="330919" y="224358"/>
                </a:lnTo>
                <a:cubicBezTo>
                  <a:pt x="321394" y="234032"/>
                  <a:pt x="315516" y="247278"/>
                  <a:pt x="315516" y="261938"/>
                </a:cubicBezTo>
                <a:cubicBezTo>
                  <a:pt x="315516" y="291554"/>
                  <a:pt x="339477" y="315516"/>
                  <a:pt x="369094" y="315516"/>
                </a:cubicBezTo>
                <a:cubicBezTo>
                  <a:pt x="398711" y="315516"/>
                  <a:pt x="422672" y="291554"/>
                  <a:pt x="422672" y="261938"/>
                </a:cubicBezTo>
                <a:cubicBezTo>
                  <a:pt x="422672" y="232321"/>
                  <a:pt x="398711" y="208359"/>
                  <a:pt x="369094" y="208359"/>
                </a:cubicBezTo>
                <a:cubicBezTo>
                  <a:pt x="367085" y="208359"/>
                  <a:pt x="365001" y="208508"/>
                  <a:pt x="363066" y="208731"/>
                </a:cubicBezTo>
                <a:lnTo>
                  <a:pt x="385167" y="254124"/>
                </a:lnTo>
                <a:cubicBezTo>
                  <a:pt x="389483" y="262979"/>
                  <a:pt x="385762" y="273695"/>
                  <a:pt x="376907" y="278011"/>
                </a:cubicBezTo>
                <a:cubicBezTo>
                  <a:pt x="368052" y="282327"/>
                  <a:pt x="357336" y="278606"/>
                  <a:pt x="353020" y="269751"/>
                </a:cubicBezTo>
                <a:close/>
                <a:moveTo>
                  <a:pt x="111026" y="273844"/>
                </a:moveTo>
                <a:cubicBezTo>
                  <a:pt x="95994" y="273844"/>
                  <a:pt x="86171" y="257994"/>
                  <a:pt x="92943" y="244525"/>
                </a:cubicBezTo>
                <a:lnTo>
                  <a:pt x="110951" y="208434"/>
                </a:lnTo>
                <a:cubicBezTo>
                  <a:pt x="109686" y="208359"/>
                  <a:pt x="108421" y="208285"/>
                  <a:pt x="107156" y="208285"/>
                </a:cubicBezTo>
                <a:cubicBezTo>
                  <a:pt x="77539" y="208285"/>
                  <a:pt x="53578" y="232246"/>
                  <a:pt x="53578" y="261863"/>
                </a:cubicBezTo>
                <a:cubicBezTo>
                  <a:pt x="53578" y="291480"/>
                  <a:pt x="77539" y="315441"/>
                  <a:pt x="107156" y="315441"/>
                </a:cubicBezTo>
                <a:cubicBezTo>
                  <a:pt x="132680" y="315441"/>
                  <a:pt x="153963" y="297656"/>
                  <a:pt x="159395" y="273769"/>
                </a:cubicBezTo>
                <a:lnTo>
                  <a:pt x="111026" y="27376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07500" y="1651000"/>
            <a:ext cx="596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Casual Riders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6670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Weekend usage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(37.0%)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Midday activity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(12-6 PM)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Longer rides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(23.3 min average)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Recreational behavior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Seasonal activity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(summer peak)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Round trips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(15.5%)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7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Tourist area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stations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429500"/>
            <a:ext cx="14732000" cy="6985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9500" y="7429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two rider types demonstrate 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fundamentally different use cases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the same service — transportation vs. recreation.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17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762000" cy="1524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1651000"/>
            <a:ext cx="76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778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Weekend Membership Campaigns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222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 recreational riders with weekend-focused offers, family plans, and leisure-oriented membership benefits.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651000"/>
            <a:ext cx="717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18500" y="1651000"/>
            <a:ext cx="762000" cy="1524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18500" y="1651000"/>
            <a:ext cx="76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34500" y="1778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Target Casual Commuters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34500" y="2222500"/>
            <a:ext cx="584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 commuter-like casual riders and promote membership savings over per-ride costs.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492500"/>
            <a:ext cx="717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2000" y="3492500"/>
            <a:ext cx="762000" cy="1524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2000" y="3492500"/>
            <a:ext cx="76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78000" y="3619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Seasonal Promotions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4064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Increase marketing during high-demand summer periods when casual ridership peaks and conversion intent is highest.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18500" y="3492500"/>
            <a:ext cx="7175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18500" y="3492500"/>
            <a:ext cx="762000" cy="15240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18500" y="3492500"/>
            <a:ext cx="762000" cy="152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34500" y="3619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Station-Based Advertising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34500" y="4064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membership promotions at high casual-rider stations: Navy Pier, Lake Shore Dr, and Michigan Ave corridor.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5461000"/>
            <a:ext cx="14732000" cy="2540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565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Implementation Priority Matrix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6223000"/>
          <a:ext cx="13970000" cy="1524000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Recommendation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 Segment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Expected Impact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Seasonal Promotions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Summer casual riders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volume conversion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Station-Based Ads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Tourist riders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Targeted reach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Weekend Campaigns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Leisure riders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Loyalty building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175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0925" y="1968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42875"/>
                </a:moveTo>
                <a:cubicBezTo>
                  <a:pt x="327094" y="142875"/>
                  <a:pt x="314325" y="130106"/>
                  <a:pt x="314325" y="114300"/>
                </a:cubicBezTo>
                <a:cubicBezTo>
                  <a:pt x="314325" y="98494"/>
                  <a:pt x="327094" y="85725"/>
                  <a:pt x="342900" y="85725"/>
                </a:cubicBezTo>
                <a:lnTo>
                  <a:pt x="485775" y="85725"/>
                </a:lnTo>
                <a:cubicBezTo>
                  <a:pt x="501581" y="85725"/>
                  <a:pt x="514350" y="98494"/>
                  <a:pt x="514350" y="114300"/>
                </a:cubicBezTo>
                <a:lnTo>
                  <a:pt x="514350" y="257175"/>
                </a:lnTo>
                <a:cubicBezTo>
                  <a:pt x="514350" y="272981"/>
                  <a:pt x="501581" y="285750"/>
                  <a:pt x="485775" y="285750"/>
                </a:cubicBezTo>
                <a:cubicBezTo>
                  <a:pt x="469969" y="285750"/>
                  <a:pt x="457200" y="272981"/>
                  <a:pt x="457200" y="257175"/>
                </a:cubicBezTo>
                <a:lnTo>
                  <a:pt x="457200" y="183326"/>
                </a:lnTo>
                <a:lnTo>
                  <a:pt x="305931" y="334595"/>
                </a:lnTo>
                <a:cubicBezTo>
                  <a:pt x="294769" y="345758"/>
                  <a:pt x="276642" y="345758"/>
                  <a:pt x="265480" y="334595"/>
                </a:cubicBezTo>
                <a:lnTo>
                  <a:pt x="171450" y="240476"/>
                </a:lnTo>
                <a:lnTo>
                  <a:pt x="48756" y="363081"/>
                </a:lnTo>
                <a:cubicBezTo>
                  <a:pt x="37594" y="374243"/>
                  <a:pt x="19467" y="374243"/>
                  <a:pt x="8305" y="363081"/>
                </a:cubicBezTo>
                <a:cubicBezTo>
                  <a:pt x="-2857" y="351919"/>
                  <a:pt x="-2857" y="333792"/>
                  <a:pt x="8305" y="322630"/>
                </a:cubicBezTo>
                <a:lnTo>
                  <a:pt x="151180" y="179755"/>
                </a:lnTo>
                <a:cubicBezTo>
                  <a:pt x="162342" y="168593"/>
                  <a:pt x="180469" y="168593"/>
                  <a:pt x="191631" y="179755"/>
                </a:cubicBezTo>
                <a:lnTo>
                  <a:pt x="285750" y="273874"/>
                </a:lnTo>
                <a:lnTo>
                  <a:pt x="416749" y="1428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78000" y="1905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Increased Annual Memberships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413000"/>
            <a:ext cx="584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Targeted conversion campaigns based on behavioral insights can convert high-value casual riders into recurring annual members.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18500" y="1651000"/>
            <a:ext cx="7175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78850" y="1968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334500" y="1905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Improved Rider Retention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34500" y="2413000"/>
            <a:ext cx="584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Matching membership benefits to actual usage patterns increases satisfaction and reduces churn among converted members.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937000"/>
            <a:ext cx="7175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50925" y="4254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57557" y="214313"/>
                </a:moveTo>
                <a:lnTo>
                  <a:pt x="300395" y="214313"/>
                </a:lnTo>
                <a:cubicBezTo>
                  <a:pt x="284589" y="214313"/>
                  <a:pt x="271820" y="201543"/>
                  <a:pt x="271820" y="185738"/>
                </a:cubicBezTo>
                <a:lnTo>
                  <a:pt x="271820" y="28575"/>
                </a:lnTo>
                <a:cubicBezTo>
                  <a:pt x="271820" y="12769"/>
                  <a:pt x="284678" y="-179"/>
                  <a:pt x="300305" y="1875"/>
                </a:cubicBezTo>
                <a:cubicBezTo>
                  <a:pt x="395853" y="14555"/>
                  <a:pt x="471577" y="90279"/>
                  <a:pt x="484257" y="185827"/>
                </a:cubicBezTo>
                <a:cubicBezTo>
                  <a:pt x="486311" y="201454"/>
                  <a:pt x="473363" y="214313"/>
                  <a:pt x="457557" y="214313"/>
                </a:cubicBezTo>
                <a:close/>
                <a:moveTo>
                  <a:pt x="198775" y="33218"/>
                </a:moveTo>
                <a:cubicBezTo>
                  <a:pt x="214938" y="29825"/>
                  <a:pt x="228957" y="43041"/>
                  <a:pt x="228957" y="59561"/>
                </a:cubicBezTo>
                <a:lnTo>
                  <a:pt x="228957" y="235744"/>
                </a:lnTo>
                <a:cubicBezTo>
                  <a:pt x="228957" y="240744"/>
                  <a:pt x="230743" y="245566"/>
                  <a:pt x="233869" y="249406"/>
                </a:cubicBezTo>
                <a:lnTo>
                  <a:pt x="351830" y="391745"/>
                </a:lnTo>
                <a:cubicBezTo>
                  <a:pt x="362277" y="404336"/>
                  <a:pt x="360045" y="423356"/>
                  <a:pt x="345668" y="431125"/>
                </a:cubicBezTo>
                <a:cubicBezTo>
                  <a:pt x="315218" y="447735"/>
                  <a:pt x="280303" y="457200"/>
                  <a:pt x="243245" y="457200"/>
                </a:cubicBezTo>
                <a:cubicBezTo>
                  <a:pt x="124926" y="457200"/>
                  <a:pt x="28932" y="361206"/>
                  <a:pt x="28932" y="242888"/>
                </a:cubicBezTo>
                <a:cubicBezTo>
                  <a:pt x="28932" y="139750"/>
                  <a:pt x="101709" y="53667"/>
                  <a:pt x="198775" y="33218"/>
                </a:cubicBezTo>
                <a:close/>
                <a:moveTo>
                  <a:pt x="426660" y="257175"/>
                </a:moveTo>
                <a:lnTo>
                  <a:pt x="483810" y="257175"/>
                </a:lnTo>
                <a:cubicBezTo>
                  <a:pt x="500330" y="257175"/>
                  <a:pt x="513546" y="271195"/>
                  <a:pt x="510153" y="287357"/>
                </a:cubicBezTo>
                <a:cubicBezTo>
                  <a:pt x="501045" y="330577"/>
                  <a:pt x="478899" y="368975"/>
                  <a:pt x="448002" y="398264"/>
                </a:cubicBezTo>
                <a:cubicBezTo>
                  <a:pt x="437019" y="408712"/>
                  <a:pt x="419785" y="406479"/>
                  <a:pt x="410141" y="394781"/>
                </a:cubicBezTo>
                <a:lnTo>
                  <a:pt x="334774" y="303967"/>
                </a:lnTo>
                <a:cubicBezTo>
                  <a:pt x="319326" y="285304"/>
                  <a:pt x="332631" y="257175"/>
                  <a:pt x="356741" y="257175"/>
                </a:cubicBezTo>
                <a:lnTo>
                  <a:pt x="426571" y="257175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78000" y="419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Better Customer Segmentation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4699000"/>
            <a:ext cx="584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Clear behavioral profiles enable precise audience targeting and personalized marketing messaging for each rider segment.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18500" y="3937000"/>
            <a:ext cx="71755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36000" y="425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11837" y="16877"/>
                </a:moveTo>
                <a:cubicBezTo>
                  <a:pt x="422106" y="21431"/>
                  <a:pt x="428625" y="31611"/>
                  <a:pt x="428625" y="42863"/>
                </a:cubicBezTo>
                <a:lnTo>
                  <a:pt x="428625" y="414338"/>
                </a:lnTo>
                <a:cubicBezTo>
                  <a:pt x="428625" y="425589"/>
                  <a:pt x="422106" y="435769"/>
                  <a:pt x="411837" y="440323"/>
                </a:cubicBezTo>
                <a:cubicBezTo>
                  <a:pt x="401568" y="444877"/>
                  <a:pt x="389692" y="443180"/>
                  <a:pt x="381208" y="435769"/>
                </a:cubicBezTo>
                <a:lnTo>
                  <a:pt x="339596" y="399425"/>
                </a:lnTo>
                <a:cubicBezTo>
                  <a:pt x="300663" y="365403"/>
                  <a:pt x="251460" y="345579"/>
                  <a:pt x="199936" y="343168"/>
                </a:cubicBezTo>
                <a:lnTo>
                  <a:pt x="199936" y="428625"/>
                </a:lnTo>
                <a:cubicBezTo>
                  <a:pt x="199936" y="444431"/>
                  <a:pt x="187166" y="457200"/>
                  <a:pt x="171361" y="457200"/>
                </a:cubicBezTo>
                <a:lnTo>
                  <a:pt x="142786" y="457200"/>
                </a:lnTo>
                <a:cubicBezTo>
                  <a:pt x="126980" y="457200"/>
                  <a:pt x="114211" y="444431"/>
                  <a:pt x="114211" y="428625"/>
                </a:cubicBezTo>
                <a:lnTo>
                  <a:pt x="114211" y="342900"/>
                </a:lnTo>
                <a:cubicBezTo>
                  <a:pt x="51167" y="342900"/>
                  <a:pt x="0" y="291733"/>
                  <a:pt x="0" y="228600"/>
                </a:cubicBezTo>
                <a:cubicBezTo>
                  <a:pt x="0" y="165467"/>
                  <a:pt x="51167" y="114300"/>
                  <a:pt x="114300" y="114300"/>
                </a:cubicBezTo>
                <a:lnTo>
                  <a:pt x="189756" y="114300"/>
                </a:lnTo>
                <a:cubicBezTo>
                  <a:pt x="244941" y="114121"/>
                  <a:pt x="298162" y="94030"/>
                  <a:pt x="339685" y="57775"/>
                </a:cubicBezTo>
                <a:lnTo>
                  <a:pt x="381298" y="21431"/>
                </a:lnTo>
                <a:cubicBezTo>
                  <a:pt x="389692" y="14020"/>
                  <a:pt x="401747" y="12323"/>
                  <a:pt x="411926" y="16877"/>
                </a:cubicBezTo>
                <a:close/>
                <a:moveTo>
                  <a:pt x="200025" y="285750"/>
                </a:moveTo>
                <a:lnTo>
                  <a:pt x="200025" y="285929"/>
                </a:lnTo>
                <a:cubicBezTo>
                  <a:pt x="262801" y="288340"/>
                  <a:pt x="323076" y="311378"/>
                  <a:pt x="371475" y="351473"/>
                </a:cubicBezTo>
                <a:lnTo>
                  <a:pt x="371475" y="105638"/>
                </a:lnTo>
                <a:cubicBezTo>
                  <a:pt x="323076" y="145733"/>
                  <a:pt x="262801" y="168771"/>
                  <a:pt x="200025" y="171182"/>
                </a:cubicBezTo>
                <a:lnTo>
                  <a:pt x="200025" y="285750"/>
                </a:lnTo>
                <a:close/>
              </a:path>
            </a:pathLst>
          </a:cu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34500" y="419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More Efficient Marketing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34500" y="4699000"/>
            <a:ext cx="584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Station and season-based targeting reduces wasted ad spend and improves campaign ROI through data-driven placement.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6350000"/>
            <a:ext cx="14732000" cy="1397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6477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7239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Conversion target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34000" y="6477000"/>
            <a:ext cx="9779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Converting just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of casual riders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annual memberships could generate significant recurring revenue, given that members are proven to be more profitable than casual riders.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714500"/>
            <a:ext cx="14732000" cy="254000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968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FINDING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413000"/>
            <a:ext cx="1397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Members primarily use bikes for </a:t>
            </a:r>
            <a:r>
              <a:rPr lang="en-US" sz="2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commuting</a:t>
            </a: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short weekday trips during rush hours.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Casual riders use bikes for </a:t>
            </a:r>
            <a:r>
              <a:rPr lang="en-US" sz="2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recreation</a:t>
            </a: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longer weekend trips in warmer months.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4635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E293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Key Evidence Summary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5143500"/>
            <a:ext cx="14732000" cy="12700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2000" y="5334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16000" y="5461000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84%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60960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Longer casual rides vs. member rides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08500" y="5334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2500" y="5461000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77%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2500" y="60960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Member weekday usage rate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55000" y="5334000"/>
            <a:ext cx="3429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9000" y="5461000"/>
            <a:ext cx="292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E07A5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9000" y="6096000"/>
            <a:ext cx="29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Summer-to-winter casual drop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001500" y="5334000"/>
            <a:ext cx="34925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255500" y="5461000"/>
            <a:ext cx="2984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2D6A4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15.5%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55500" y="60960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Casual round-trip 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7302500"/>
            <a:ext cx="14732000" cy="88900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79500" y="7302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Strategic Opportunity: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Cyclistic can increase memberships by targeting high-value casual riders with behavior-based marketing campaigns informed by these clear usage patterns.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xk2lb7fz76bu/mnt/agents/output/cyclistic/images/5_Silhouette_of_Person_Riding_Bicycle.png"/>
          <p:cNvPicPr>
            <a:picLocks noChangeAspect="1"/>
          </p:cNvPicPr>
          <p:nvPr/>
        </p:nvPicPr>
        <p:blipFill>
          <a:blip r:embed="rId3"/>
          <a:srcRect t="28912" b="289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93B">
                  <a:alpha val="19000"/>
                </a:srgbClr>
              </a:gs>
              <a:gs pos="40000">
                <a:srgbClr val="1E293B">
                  <a:alpha val="69000"/>
                </a:srgbClr>
              </a:gs>
              <a:gs pos="100000">
                <a:srgbClr val="1E293B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048000" y="2286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12000" y="3492500"/>
            <a:ext cx="2032000" cy="38100"/>
          </a:xfrm>
          <a:prstGeom prst="rect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88000" y="4699000"/>
            <a:ext cx="508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48000" y="571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2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| PANDAS | BEHAVIORAL ANALYTICS | MARKETING ANALYTICS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1163</Words>
  <Application>Microsoft Office PowerPoint</Application>
  <PresentationFormat>Custom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Oranienbaum</vt:lpstr>
      <vt:lpstr>Arial</vt:lpstr>
      <vt:lpstr>Quattrocento Sans</vt:lpstr>
      <vt:lpstr>QuattrocentoSans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</dc:title>
  <dc:subject>Cyclistic Bike-Share Analysis</dc:subject>
  <dc:creator>Kimi</dc:creator>
  <cp:lastModifiedBy>Youssef Aboshosha</cp:lastModifiedBy>
  <cp:revision>2</cp:revision>
  <dcterms:created xsi:type="dcterms:W3CDTF">2026-05-17T10:24:54Z</dcterms:created>
  <dcterms:modified xsi:type="dcterms:W3CDTF">2026-05-17T14:27:46Z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{"Label":"Cyclistic Bike-Share Analysis","ContentProducer":"001191110108MACG2KBH8F10000","ProduceID":"19e3550e-dbc2-86a0-8000-0000b6462fda","ReservedCode1":"","ContentPropagator":"001191110108MACG2KBH8F20000","PropagateID":"19e3550e-dbc2-86a0-8000-0000b6462fda","ReservedCode2":""}</vt:lpwstr>
  </property>
</Properties>
</file>